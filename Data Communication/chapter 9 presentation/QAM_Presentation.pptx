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7"/>
  </p:notes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668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03fa81d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803fa81d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f803fa81dd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C7293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3775" y="516921"/>
            <a:ext cx="7315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D6E8"/>
              </a:buClr>
              <a:buSzPts val="1300"/>
              <a:buFont typeface="Calibri"/>
              <a:buNone/>
            </a:pPr>
            <a:r>
              <a:rPr lang="en-US" sz="3700" b="1" i="0" u="none" strike="noStrike" cap="none">
                <a:solidFill>
                  <a:srgbClr val="9FD6E8"/>
                </a:solidFill>
                <a:latin typeface="Calibri"/>
                <a:ea typeface="Calibri"/>
                <a:cs typeface="Calibri"/>
                <a:sym typeface="Calibri"/>
              </a:rPr>
              <a:t>DATA COMMUNICATION  ·  CMP-335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40" y="1522585"/>
            <a:ext cx="87783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Quadrature Amplitude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Modulation (QAM)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9125" y="4944625"/>
            <a:ext cx="5720100" cy="1449300"/>
          </a:xfrm>
          <a:prstGeom prst="roundRect">
            <a:avLst>
              <a:gd name="adj" fmla="val 10000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3E5C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05840" y="5394960"/>
            <a:ext cx="548640" cy="548640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937253" y="5283621"/>
            <a:ext cx="685800" cy="7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691640" y="5330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3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-US" sz="3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Suraj k. Jha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874650" y="5725100"/>
            <a:ext cx="444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C4D3"/>
              </a:buClr>
              <a:buSzPts val="1050"/>
              <a:buFont typeface="Calibri"/>
              <a:buNone/>
            </a:pPr>
            <a:r>
              <a:rPr lang="en-US" sz="1950" b="0" i="0" u="none" strike="noStrike" cap="none">
                <a:solidFill>
                  <a:srgbClr val="AFC4D3"/>
                </a:solidFill>
                <a:latin typeface="Calibri"/>
                <a:ea typeface="Calibri"/>
                <a:cs typeface="Calibri"/>
                <a:sym typeface="Calibri"/>
              </a:rPr>
              <a:t>Roll No. 231537  ·  B.E. IT, 6th Semester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 title="Profile Pictu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813" y="5141975"/>
            <a:ext cx="1052671" cy="10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Recording 2026-07-12 230529">
            <a:hlinkClick r:id="" action="ppaction://media"/>
            <a:extLst>
              <a:ext uri="{FF2B5EF4-FFF2-40B4-BE49-F238E27FC236}">
                <a16:creationId xmlns:a16="http://schemas.microsoft.com/office/drawing/2014/main" id="{55114A39-D1E9-09CA-9E5F-5CD815C30A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89936"/>
            <a:ext cx="12192000" cy="703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3F408-8450-4F1F-C83F-5F6814FA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7" y="138987"/>
            <a:ext cx="11174134" cy="658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3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26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 ·  FOUNDATIONS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749808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Modulation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75" y="1600200"/>
            <a:ext cx="5120700" cy="16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lang="en-US" sz="200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Modulation is the process of modifying a carrier wave using a message signal to enable efficient transmission of information over a communication channel.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75" y="3749055"/>
            <a:ext cx="5120700" cy="1904700"/>
          </a:xfrm>
          <a:prstGeom prst="roundRect">
            <a:avLst>
              <a:gd name="adj" fmla="val 5926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68617" y="4114840"/>
            <a:ext cx="502800" cy="502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68630" y="420634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65580" y="3822357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65575" y="4050682"/>
            <a:ext cx="40233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Baseband signals travel poorly over long distances — modulation shifts them onto a carrier suited to the channel.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91072" y="1627632"/>
            <a:ext cx="5340096" cy="3054096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4" descr="assets/image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7939" y="1477900"/>
            <a:ext cx="5760676" cy="31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895025" y="4709150"/>
            <a:ext cx="5626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2250" b="0" i="1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Carrier, message, and resulting modulated waveform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640080" y="749808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Quadrature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40080" y="164592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lang="en-US" sz="170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Quadrature is the condition where two signals of the same frequency are 90° out of phase with each other.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28803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" y="301752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B441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2B441"/>
                </a:solidFill>
                <a:latin typeface="Cambria"/>
                <a:ea typeface="Cambria"/>
                <a:cs typeface="Cambria"/>
                <a:sym typeface="Cambria"/>
              </a:rPr>
              <a:t>90°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77240" y="388620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CBD9E3"/>
              </a:buClr>
              <a:buSzPts val="1100"/>
              <a:buFont typeface="Calibri"/>
              <a:buNone/>
            </a:pPr>
            <a:r>
              <a:rPr lang="en-US" sz="1500" b="0" i="0" u="none" strike="noStrike" cap="none">
                <a:solidFill>
                  <a:srgbClr val="CBD9E3"/>
                </a:solidFill>
                <a:latin typeface="Calibri"/>
                <a:ea typeface="Calibri"/>
                <a:cs typeface="Calibri"/>
                <a:sym typeface="Calibri"/>
              </a:rPr>
              <a:t>phase offset between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CBD9E3"/>
              </a:buClr>
              <a:buSzPts val="1100"/>
              <a:buFont typeface="Calibri"/>
              <a:buNone/>
            </a:pPr>
            <a:r>
              <a:rPr lang="en-US" sz="1500" b="0" i="0" u="none" strike="noStrike" cap="none">
                <a:solidFill>
                  <a:srgbClr val="CBD9E3"/>
                </a:solidFill>
                <a:latin typeface="Calibri"/>
                <a:ea typeface="Calibri"/>
                <a:cs typeface="Calibri"/>
                <a:sym typeface="Calibri"/>
              </a:rPr>
              <a:t>the two carriers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108960" y="2880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108960" y="30175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 &amp; Q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46120" y="361188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5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In-phase and Quadrature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5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components carried independently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565392" y="1490472"/>
            <a:ext cx="5065776" cy="4517136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5" descr="assets/image1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3626" y="1078290"/>
            <a:ext cx="5486425" cy="486531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6583670" y="6184900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950" b="0" i="1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Two carriers, same frequency, 90° apart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2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 ·  THE SCHEME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Quadrature Amplitude Modulation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40080" y="155448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None/>
            </a:pPr>
            <a:r>
              <a:rPr lang="en-US" sz="185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QAM is a modulation scheme in which two carrier signals of the same frequency, separated by 90° in phase, are independently amplitude-modulated and combined to transmit information with high spectral efficiency.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40080" y="2697475"/>
            <a:ext cx="3429000" cy="3017400"/>
          </a:xfrm>
          <a:prstGeom prst="roundRect">
            <a:avLst>
              <a:gd name="adj" fmla="val 3030"/>
            </a:avLst>
          </a:prstGeom>
          <a:solidFill>
            <a:srgbClr val="EAF3F7"/>
          </a:solidFill>
          <a:ln>
            <a:noFill/>
          </a:ln>
          <a:effectLst>
            <a:outerShdw blurRad="101600" dist="25400" dir="5400000" algn="bl" rotWithShape="0">
              <a:srgbClr val="1B243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960120" y="3063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IQ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14400" y="388620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Two orthogonal carriers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14400" y="457200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lang="en-US" sz="17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Uses two carrier signals: In-phase (I) and Quadrature (Q), modulated independently.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343400" y="2697413"/>
            <a:ext cx="3429000" cy="3017400"/>
          </a:xfrm>
          <a:prstGeom prst="roundRect">
            <a:avLst>
              <a:gd name="adj" fmla="val 3030"/>
            </a:avLst>
          </a:prstGeom>
          <a:solidFill>
            <a:srgbClr val="EAF3F7"/>
          </a:solidFill>
          <a:ln>
            <a:noFill/>
          </a:ln>
          <a:effectLst>
            <a:outerShdw blurRad="101600" dist="25400" dir="5400000" algn="bl" rotWithShape="0">
              <a:srgbClr val="1B243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4663440" y="30632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663428" y="30632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617720" y="388620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ASK + PSK combined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617720" y="457200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lang="en-US" sz="17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Combines the principles of Amplitude Shift Keying (ASK) and Phase Shift Keying (PSK).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046720" y="274320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EAF3F7"/>
          </a:solidFill>
          <a:ln>
            <a:noFill/>
          </a:ln>
          <a:effectLst>
            <a:outerShdw blurRad="101600" dist="25400" dir="5400000" algn="bl" rotWithShape="0">
              <a:srgbClr val="1B243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366760" y="30632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8366760" y="3063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321040" y="388620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High efficiency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321040" y="4572000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Provides high data rates and better bandwidth efficiency than simpler schemes.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640080" y="7498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QAM Modulation Types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lang="en-US" sz="2050" b="0" i="1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Higher-order QAM packs more bits per symbol at the cost of noise margin.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627632" y="1901952"/>
            <a:ext cx="8906256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7" descr="assets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74" y="1901938"/>
            <a:ext cx="9784076" cy="453158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25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 ·  SYSTEM BLOCKS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640080" y="749808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QAM Modulator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40075" y="1354486"/>
            <a:ext cx="4755000" cy="19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lang="en-US" sz="180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QAM modulator is a circuit that generates a QAM signal by modulating two orthogonal carrier signals (I and Q) with digital data and combining them for transmission.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640080" y="3429000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40080" y="34290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097280" y="337413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50"/>
              <a:buFont typeface="Calibri"/>
              <a:buNone/>
            </a:pPr>
            <a:r>
              <a:rPr lang="en-US" sz="205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Split data into I &amp; Q streams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40080" y="3995928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640080" y="3995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097280" y="3941064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50"/>
              <a:buFont typeface="Calibri"/>
              <a:buNone/>
            </a:pPr>
            <a:r>
              <a:rPr lang="en-US" sz="205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Modulate each onto orthogonal carriers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640080" y="4562856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640080" y="456285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1097280" y="450799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50"/>
              <a:buFont typeface="Calibri"/>
              <a:buNone/>
            </a:pPr>
            <a:r>
              <a:rPr lang="en-US" sz="205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Sum the two for transmission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199632" y="1444752"/>
            <a:ext cx="5431536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8" descr="assets/image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4675" y="599573"/>
            <a:ext cx="6126501" cy="37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/>
          <p:nvPr/>
        </p:nvSpPr>
        <p:spPr>
          <a:xfrm>
            <a:off x="6309360" y="44348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950" b="0" i="1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I/Q modulation and signal-combining stages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/>
          <p:nvPr/>
        </p:nvSpPr>
        <p:spPr>
          <a:xfrm>
            <a:off x="640080" y="749808"/>
            <a:ext cx="5943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QAM Demodulator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640075" y="1393149"/>
            <a:ext cx="4755000" cy="1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500"/>
              <a:buFont typeface="Calibri"/>
              <a:buNone/>
            </a:pPr>
            <a:r>
              <a:rPr lang="en-US" sz="190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QAM demodulator is a circuit that extracts the original digital data from a received QAM signal by separating the I and Q components.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40080" y="338328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868680" y="3611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⇄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600193" y="3446272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19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Mirror of the modulator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554480" y="3858768"/>
            <a:ext cx="3703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16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It separates I and Q using synchronized reference carriers, then recombines them into the original bitstream.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199632" y="1627632"/>
            <a:ext cx="5431536" cy="259689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9" descr="assets/image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6375" y="1100758"/>
            <a:ext cx="6126375" cy="365063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6309360" y="489458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lang="en-US" sz="1950" b="0" i="1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Received signal separated back into I and Q data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 ·  ENCODING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40080" y="74980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900"/>
              <a:buFont typeface="Cambria"/>
              <a:buNone/>
            </a:pPr>
            <a:r>
              <a:rPr lang="en-US" sz="29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Relationship Between Bits and Symbols</a:t>
            </a:r>
            <a:endParaRPr sz="2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40075" y="1691652"/>
            <a:ext cx="5303400" cy="128010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554480" y="184708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lang="en-US" sz="23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Symbol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554480" y="213969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18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 unique signal state used to represent one or more bits during transmission.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40075" y="2971800"/>
            <a:ext cx="5303400" cy="21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None/>
            </a:pPr>
            <a:r>
              <a:rPr lang="en-US" sz="2050" b="0" i="0" u="none" strike="noStrike" cap="non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Instead of sending bits one by one, QAM groups multiple bits together and transmits them as a single symbol — multiplying effective throughput for the same symbol rate.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656832" y="1353312"/>
            <a:ext cx="4700016" cy="4791456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10" descr="assets/image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3026" y="1353301"/>
            <a:ext cx="5021901" cy="51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530355" y="2291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Constellation Diagram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40075" y="914891"/>
            <a:ext cx="10607100" cy="10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lang="en-US" sz="20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 graphical representation of digital modulation symbols, where each point represents a unique combination of amplitude and phase.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30352" y="2039112"/>
            <a:ext cx="3648456" cy="401421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1" descr="assets/image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2148840"/>
            <a:ext cx="342900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/>
          <p:nvPr/>
        </p:nvSpPr>
        <p:spPr>
          <a:xfrm>
            <a:off x="640080" y="61081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lang="en-US" sz="2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4-QAM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4279392" y="2039112"/>
            <a:ext cx="3648456" cy="401421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1" descr="assets/image1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9120" y="2148840"/>
            <a:ext cx="342900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1"/>
          <p:cNvSpPr/>
          <p:nvPr/>
        </p:nvSpPr>
        <p:spPr>
          <a:xfrm>
            <a:off x="4389108" y="6108192"/>
            <a:ext cx="342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lang="en-US" sz="18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16-QAM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028432" y="2039112"/>
            <a:ext cx="3648456" cy="4014216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12700" cap="flat" cmpd="sng">
            <a:solidFill>
              <a:srgbClr val="D9E2E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1B243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11" descr="assets/image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38160" y="2148840"/>
            <a:ext cx="342900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/>
          <p:nvPr/>
        </p:nvSpPr>
        <p:spPr>
          <a:xfrm>
            <a:off x="8138160" y="61081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lang="en-US" sz="18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64-QAM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640080" y="7498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lang="en-US" sz="37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Advantages of QAM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640080" y="192024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96012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742874" y="2377413"/>
            <a:ext cx="3697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High Data Rate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960125" y="2834650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22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Transmits multiple bits per symbol, allowing faster data transmission.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6126455" y="1920178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6446520" y="224028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6446520" y="2240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7119624" y="2298700"/>
            <a:ext cx="320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High Bandwidth Efficiency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446525" y="2905713"/>
            <a:ext cx="4480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19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Makes efficient use of available bandwidth within the same frequency range.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640080" y="406908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960120" y="438912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960120" y="4389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1638298" y="4579600"/>
            <a:ext cx="280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1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High Spectral Efficiency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960125" y="4983562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20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More data can be transmitted per unit of bandwidth than many other schemes.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6126455" y="4132580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6446520" y="4389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7119620" y="4526278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Flexible Modulation Orders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446525" y="4983563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18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16-QAM, 64-QAM, 256-QAM and more can be selected based on channel conditions.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563880" y="7752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Disadvantages of QAM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563880" y="1945640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FB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883920" y="2265680"/>
            <a:ext cx="594300" cy="594300"/>
          </a:xfrm>
          <a:prstGeom prst="ellipse">
            <a:avLst/>
          </a:prstGeom>
          <a:solidFill>
            <a:srgbClr val="C45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883920" y="226568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523995" y="2402838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Sensitive to Noise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83925" y="2859988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19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Higher-order QAM signals are more easily affected by noise and interference.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050280" y="1945640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FB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6370320" y="2265680"/>
            <a:ext cx="594300" cy="594300"/>
          </a:xfrm>
          <a:prstGeom prst="ellipse">
            <a:avLst/>
          </a:prstGeom>
          <a:solidFill>
            <a:srgbClr val="C45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6370320" y="226568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081520" y="2402838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Requires High SNR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370325" y="2860063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20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Reliable communication needs a strong and clean signal-to-noise ratio.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563880" y="4094480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FB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83920" y="4414520"/>
            <a:ext cx="594300" cy="594300"/>
          </a:xfrm>
          <a:prstGeom prst="ellipse">
            <a:avLst/>
          </a:prstGeom>
          <a:solidFill>
            <a:srgbClr val="C45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883920" y="441452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569720" y="4498340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Complex Design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883925" y="5008869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20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Modulators and demodulators are more complicated than simpler schemes.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050280" y="4094480"/>
            <a:ext cx="5120700" cy="1783200"/>
          </a:xfrm>
          <a:prstGeom prst="roundRect">
            <a:avLst>
              <a:gd name="adj" fmla="val 5128"/>
            </a:avLst>
          </a:prstGeom>
          <a:solidFill>
            <a:srgbClr val="FBEF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6370320" y="4414520"/>
            <a:ext cx="594300" cy="594300"/>
          </a:xfrm>
          <a:prstGeom prst="ellipse">
            <a:avLst/>
          </a:prstGeom>
          <a:solidFill>
            <a:srgbClr val="C457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6370320" y="441452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7155170" y="4498340"/>
            <a:ext cx="4480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lang="en-US" sz="22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Needs Precise Sync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370325" y="5008869"/>
            <a:ext cx="44805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lang="en-US" sz="205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Transmitter and receiver must maintain accurate carrier frequency and phase.</a:t>
            </a:r>
            <a:endParaRPr sz="2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1292535" y="64262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-2011680" y="438912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D6E8"/>
              </a:buClr>
              <a:buSzPts val="1100"/>
              <a:buFont typeface="Calibri"/>
              <a:buNone/>
            </a:pPr>
            <a:r>
              <a:rPr lang="en-US" sz="2400" b="1" i="0" u="none" strike="noStrike" cap="none">
                <a:solidFill>
                  <a:srgbClr val="9FD6E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 b="1">
                <a:solidFill>
                  <a:srgbClr val="9FD6E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400" b="1" i="0" u="none" strike="noStrike" cap="none">
                <a:solidFill>
                  <a:srgbClr val="9FD6E8"/>
                </a:solidFill>
                <a:latin typeface="Calibri"/>
                <a:ea typeface="Calibri"/>
                <a:cs typeface="Calibri"/>
                <a:sym typeface="Calibri"/>
              </a:rPr>
              <a:t>  ·  IN PRACTICE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40080" y="80467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Applications of Analog &amp; Digital QAM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640080" y="178308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FFF">
              <a:alpha val="7843"/>
            </a:srgbClr>
          </a:solidFill>
          <a:ln w="12700" cap="flat" cmpd="sng">
            <a:solidFill>
              <a:srgbClr val="3E5C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1005840" y="201168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B441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2B441"/>
                </a:solidFill>
                <a:latin typeface="Cambria"/>
                <a:ea typeface="Cambria"/>
                <a:cs typeface="Cambria"/>
                <a:sym typeface="Cambria"/>
              </a:rPr>
              <a:t>Analog QAM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051560" y="2679192"/>
            <a:ext cx="109728" cy="109728"/>
          </a:xfrm>
          <a:prstGeom prst="ellipse">
            <a:avLst/>
          </a:prstGeom>
          <a:solidFill>
            <a:srgbClr val="9FD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1325880" y="25328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CF2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E4ECF2"/>
                </a:solidFill>
                <a:latin typeface="Calibri"/>
                <a:ea typeface="Calibri"/>
                <a:cs typeface="Calibri"/>
                <a:sym typeface="Calibri"/>
              </a:rPr>
              <a:t>Analog color television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051560" y="3246120"/>
            <a:ext cx="109728" cy="109728"/>
          </a:xfrm>
          <a:prstGeom prst="ellipse">
            <a:avLst/>
          </a:prstGeom>
          <a:solidFill>
            <a:srgbClr val="9FD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1325880" y="30998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CF2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E4ECF2"/>
                </a:solidFill>
                <a:latin typeface="Calibri"/>
                <a:ea typeface="Calibri"/>
                <a:cs typeface="Calibri"/>
                <a:sym typeface="Calibri"/>
              </a:rPr>
              <a:t>Microwave communication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1051560" y="3813048"/>
            <a:ext cx="109728" cy="109728"/>
          </a:xfrm>
          <a:prstGeom prst="ellipse">
            <a:avLst/>
          </a:prstGeom>
          <a:solidFill>
            <a:srgbClr val="9FD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1325880" y="366674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CF2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E4ECF2"/>
                </a:solidFill>
                <a:latin typeface="Calibri"/>
                <a:ea typeface="Calibri"/>
                <a:cs typeface="Calibri"/>
                <a:sym typeface="Calibri"/>
              </a:rPr>
              <a:t>Analog radio systems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1051560" y="4379976"/>
            <a:ext cx="109728" cy="109728"/>
          </a:xfrm>
          <a:prstGeom prst="ellipse">
            <a:avLst/>
          </a:prstGeom>
          <a:solidFill>
            <a:srgbClr val="9FD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1325880" y="42336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CF2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E4ECF2"/>
                </a:solidFill>
                <a:latin typeface="Calibri"/>
                <a:ea typeface="Calibri"/>
                <a:cs typeface="Calibri"/>
                <a:sym typeface="Calibri"/>
              </a:rPr>
              <a:t>Analog video transmission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6035040" y="178308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6400800" y="20116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Digital QAM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6446520" y="2679192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6720840" y="253288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Wi-Fi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6720840" y="3008376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4G LTE / 5G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6446520" y="3630168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6720840" y="3483864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television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6446520" y="4105656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6720840" y="395935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Cable TV &amp; cable modems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6446520" y="4581144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6720840" y="44348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Satellite communication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6446520" y="5056632"/>
            <a:ext cx="109728" cy="109728"/>
          </a:xfrm>
          <a:prstGeom prst="ellipse">
            <a:avLst/>
          </a:prstGeom>
          <a:solidFill>
            <a:srgbClr val="F2B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6720840" y="491032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Broadband Internet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0"/>
                            </p:stCondLst>
                            <p:childTnLst>
                              <p:par>
                                <p:cTn id="5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0"/>
                            </p:stCondLst>
                            <p:childTnLst>
                              <p:par>
                                <p:cTn id="6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3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4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651</Words>
  <Application>Microsoft Office PowerPoint</Application>
  <PresentationFormat>Widescreen</PresentationFormat>
  <Paragraphs>126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Suraj Kumar Jha</cp:lastModifiedBy>
  <cp:revision>2</cp:revision>
  <dcterms:modified xsi:type="dcterms:W3CDTF">2026-07-12T17:30:07Z</dcterms:modified>
</cp:coreProperties>
</file>