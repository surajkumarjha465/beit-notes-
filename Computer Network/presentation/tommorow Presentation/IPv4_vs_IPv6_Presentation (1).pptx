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cf7ac99c1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cf7ac99c1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cf7ac99c1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cf7ac99c1_3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cf7ac99c1_3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cf7ac99c1_3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cf7ac99c1_3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cf7ac99c1_3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cf7ac99c1_3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cf7ac99c1_3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cf7ac99c1_3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cf7ac99c1_3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cf7ac99c1_3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cf7ac99c1_3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cf7ac99c1_3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cf7ac99c1_3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cf7ac99c1_3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cf7ac99c1_3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cf7ac99c1_3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cf7ac99c1_3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cf7ac99c1_3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f7ac99c1_3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cf7ac99c1_3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cf7ac99c1_3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cf7ac99c1_3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cf7ac99c1_3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ecf7ac99c1_3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cf7ac99c1_3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cf7ac99c1_3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cf7ac99c1_3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E4D92">
              <a:alpha val="30196"/>
            </a:srgbClr>
          </a:solidFill>
          <a:ln cap="flat" cmpd="sng" w="12700">
            <a:solidFill>
              <a:srgbClr val="0E4D9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891B2">
              <a:alpha val="25098"/>
            </a:srgbClr>
          </a:solidFill>
          <a:ln cap="flat" cmpd="sng" w="12700">
            <a:solidFill>
              <a:srgbClr val="0891B2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COMPUTER NETWORKING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37160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IPv4 &amp; IPv6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78892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Understanding Internet Protocols: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Addressing, Architecture &amp; the Road Ahead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4023360"/>
            <a:ext cx="3200400" cy="640080"/>
          </a:xfrm>
          <a:prstGeom prst="rect">
            <a:avLst/>
          </a:prstGeom>
          <a:solidFill>
            <a:srgbClr val="0E4D92"/>
          </a:solidFill>
          <a:ln cap="flat" cmpd="sng" w="12700">
            <a:solidFill>
              <a:srgbClr val="0E4D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57200" y="4023346"/>
            <a:ext cx="54864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highlight>
                  <a:schemeClr val="accent1"/>
                </a:highlight>
                <a:latin typeface="Calibri"/>
                <a:ea typeface="Calibri"/>
                <a:cs typeface="Calibri"/>
                <a:sym typeface="Calibri"/>
              </a:rPr>
              <a:t>Suraj </a:t>
            </a:r>
            <a:r>
              <a:rPr lang="en-US" sz="1800">
                <a:solidFill>
                  <a:srgbClr val="FFFFFF"/>
                </a:solidFill>
                <a:highlight>
                  <a:schemeClr val="accent1"/>
                </a:highlight>
                <a:latin typeface="Calibri"/>
                <a:ea typeface="Calibri"/>
                <a:cs typeface="Calibri"/>
                <a:sym typeface="Calibri"/>
              </a:rPr>
              <a:t>K.</a:t>
            </a:r>
            <a:r>
              <a:rPr b="0" i="0" lang="en-US" sz="1800" u="none" cap="none" strike="noStrike">
                <a:solidFill>
                  <a:srgbClr val="FFFFFF"/>
                </a:solidFill>
                <a:highlight>
                  <a:schemeClr val="accent1"/>
                </a:highlight>
                <a:latin typeface="Calibri"/>
                <a:ea typeface="Calibri"/>
                <a:cs typeface="Calibri"/>
                <a:sym typeface="Calibri"/>
              </a:rPr>
              <a:t> Jha  </a:t>
            </a:r>
            <a:r>
              <a:rPr lang="en-US" sz="1800">
                <a:solidFill>
                  <a:srgbClr val="FFFFFF"/>
                </a:solidFill>
                <a:highlight>
                  <a:schemeClr val="accent1"/>
                </a:highlight>
                <a:latin typeface="Calibri"/>
                <a:ea typeface="Calibri"/>
                <a:cs typeface="Calibri"/>
                <a:sym typeface="Calibri"/>
              </a:rPr>
              <a:t>| BEIT | 6th Sem| NCIT | </a:t>
            </a:r>
            <a:r>
              <a:rPr b="0" i="0" lang="en-US" sz="1800" u="none" cap="none" strike="noStrike">
                <a:solidFill>
                  <a:srgbClr val="FFFFFF"/>
                </a:solidFill>
                <a:highlight>
                  <a:schemeClr val="accent1"/>
                </a:highlight>
                <a:latin typeface="Calibri"/>
                <a:ea typeface="Calibri"/>
                <a:cs typeface="Calibri"/>
                <a:sym typeface="Calibri"/>
              </a:rPr>
              <a:t>Pokhara University</a:t>
            </a:r>
            <a:endParaRPr b="0" i="0" sz="1800" u="none" cap="none" strike="noStrike">
              <a:solidFill>
                <a:srgbClr val="FFFFFF"/>
              </a:solidFill>
              <a:highlight>
                <a:schemeClr val="accen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highlight>
                  <a:schemeClr val="accent1"/>
                </a:highlight>
                <a:latin typeface="Calibri"/>
                <a:ea typeface="Calibri"/>
                <a:cs typeface="Calibri"/>
                <a:sym typeface="Calibri"/>
              </a:rPr>
              <a:t>231537</a:t>
            </a:r>
            <a:endParaRPr sz="1800">
              <a:solidFill>
                <a:srgbClr val="FFFFFF"/>
              </a:solidFill>
              <a:highlight>
                <a:schemeClr val="accen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TOPIC MATTERS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1005840"/>
            <a:ext cx="2743200" cy="32004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1005840"/>
            <a:ext cx="2743200" cy="8229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65760" y="11887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4.3B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233172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IPv4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Addresses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5760" y="31089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exhausted by 2011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91840" y="1005840"/>
            <a:ext cx="2743200" cy="32004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291840" y="1005840"/>
            <a:ext cx="2743200" cy="8229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91840" y="11887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340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Undecillion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291840" y="233172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IPv6 Address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91840" y="31089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Essentially unlimited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217920" y="1005840"/>
            <a:ext cx="2743200" cy="32004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217920" y="1005840"/>
            <a:ext cx="2743200" cy="82296"/>
          </a:xfrm>
          <a:prstGeom prst="rect">
            <a:avLst/>
          </a:prstGeom>
          <a:solidFill>
            <a:srgbClr val="0E4D92"/>
          </a:solidFill>
          <a:ln cap="flat" cmpd="sng" w="12700">
            <a:solidFill>
              <a:srgbClr val="0E4D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217920" y="11887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45%+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217920" y="233172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Global IPv6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Adoption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217920" y="31089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Google stats, 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internet is running out of IPv4 addresses — IPv6 is not optional, it's inevitable.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IPv4?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Introduced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1981 (RFC 791)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32-bit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Dotted Decimal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192.168.1.1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Addresses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~4.3 Billion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Header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20–60 bytes (variable)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217920" y="9144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Address Breakdown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172200" y="1371600"/>
            <a:ext cx="621792" cy="621792"/>
          </a:xfrm>
          <a:prstGeom prst="rect">
            <a:avLst/>
          </a:prstGeom>
          <a:solidFill>
            <a:srgbClr val="0E4D92"/>
          </a:solidFill>
          <a:ln cap="flat" cmpd="sng" w="12700">
            <a:solidFill>
              <a:srgbClr val="0E4D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172200" y="137160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172200" y="202996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858000" y="1371600"/>
            <a:ext cx="621792" cy="62179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858000" y="137160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858000" y="202996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543800" y="1371600"/>
            <a:ext cx="621792" cy="621792"/>
          </a:xfrm>
          <a:prstGeom prst="rect">
            <a:avLst/>
          </a:prstGeom>
          <a:solidFill>
            <a:srgbClr val="0D6E4F"/>
          </a:solidFill>
          <a:ln cap="flat" cmpd="sng" w="12700">
            <a:solidFill>
              <a:srgbClr val="0D6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543800" y="137160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543800" y="202996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229600" y="1371600"/>
            <a:ext cx="621792" cy="62179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8229600" y="1371600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229600" y="2029968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172200" y="2377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= 32 bits 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035040" y="28346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Address Classes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035040" y="320040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 A: 0.0.0.0 – 127.x.x.x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035040" y="361188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 B: 128.0.0.0 – 191.x.x.x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035040" y="402336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 C: 192.0.0.0 – 223.x.x.x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035040" y="443484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D/E: Multicast / Research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IPv4 Header Structure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57200" y="914400"/>
            <a:ext cx="1097280" cy="621792"/>
          </a:xfrm>
          <a:prstGeom prst="rect">
            <a:avLst/>
          </a:prstGeom>
          <a:solidFill>
            <a:srgbClr val="1D4E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57200" y="914400"/>
            <a:ext cx="1097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(4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554480" y="914400"/>
            <a:ext cx="1097280" cy="621792"/>
          </a:xfrm>
          <a:prstGeom prst="rect">
            <a:avLst/>
          </a:prstGeom>
          <a:solidFill>
            <a:srgbClr val="1E40A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554480" y="914400"/>
            <a:ext cx="1097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IHL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(4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651760" y="914400"/>
            <a:ext cx="1828800" cy="621792"/>
          </a:xfrm>
          <a:prstGeom prst="rect">
            <a:avLst/>
          </a:prstGeom>
          <a:solidFill>
            <a:srgbClr val="1E3A8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2651760" y="91440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of 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480560" y="914400"/>
            <a:ext cx="4206240" cy="621792"/>
          </a:xfrm>
          <a:prstGeom prst="rect">
            <a:avLst/>
          </a:prstGeom>
          <a:solidFill>
            <a:srgbClr val="1D4E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480560" y="914400"/>
            <a:ext cx="4206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Length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(16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1572768"/>
            <a:ext cx="4114800" cy="621792"/>
          </a:xfrm>
          <a:prstGeom prst="rect">
            <a:avLst/>
          </a:prstGeom>
          <a:solidFill>
            <a:srgbClr val="065F4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57200" y="1572768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Identification (16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0" y="1572768"/>
            <a:ext cx="1097280" cy="621792"/>
          </a:xfrm>
          <a:prstGeom prst="rect">
            <a:avLst/>
          </a:prstGeom>
          <a:solidFill>
            <a:srgbClr val="04785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0" y="1572768"/>
            <a:ext cx="1097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669280" y="1572768"/>
            <a:ext cx="3017520" cy="621792"/>
          </a:xfrm>
          <a:prstGeom prst="rect">
            <a:avLst/>
          </a:prstGeom>
          <a:solidFill>
            <a:srgbClr val="065F4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5669280" y="1572768"/>
            <a:ext cx="3017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Fragment Offset (13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2231136"/>
            <a:ext cx="1371600" cy="621792"/>
          </a:xfrm>
          <a:prstGeom prst="rect">
            <a:avLst/>
          </a:prstGeom>
          <a:solidFill>
            <a:srgbClr val="7C2D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2231136"/>
            <a:ext cx="1371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828800" y="2231136"/>
            <a:ext cx="1828800" cy="621792"/>
          </a:xfrm>
          <a:prstGeom prst="rect">
            <a:avLst/>
          </a:prstGeom>
          <a:solidFill>
            <a:srgbClr val="9A34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1828800" y="2231136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0" y="2231136"/>
            <a:ext cx="5029200" cy="621792"/>
          </a:xfrm>
          <a:prstGeom prst="rect">
            <a:avLst/>
          </a:prstGeom>
          <a:solidFill>
            <a:srgbClr val="7C2D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793900" y="2260861"/>
            <a:ext cx="50292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Header Checksum (16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2889504"/>
            <a:ext cx="8229600" cy="621792"/>
          </a:xfrm>
          <a:prstGeom prst="rect">
            <a:avLst/>
          </a:prstGeom>
          <a:solidFill>
            <a:srgbClr val="4C1D9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57200" y="2889504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IP Address (32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3547872"/>
            <a:ext cx="8229600" cy="621792"/>
          </a:xfrm>
          <a:prstGeom prst="rect">
            <a:avLst/>
          </a:prstGeom>
          <a:solidFill>
            <a:srgbClr val="5B21B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57200" y="3547872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Destination IP Address (32 bits)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4251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Key Fields: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45262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— Prevents infinite loops  |  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— TCP=6, UDP=17  |  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Flags/Offset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— Control fragmentation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F1D1D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of IPv4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24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1024128" y="106984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Address Exhaustion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150876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IANA ran out of IPv4 blocks in February 2011. Regional registries have followed. NAT is a workaround — not a solution.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800600" y="960120"/>
            <a:ext cx="4114800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124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458968" y="106984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 Built-in 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983480" y="150876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IPsec is optional in IPv4. Packets can be spoofed, intercepted, or modified without end-to-end encryption by default.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1024128" y="299008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NAT Complexity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342900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Network Address Translation breaks end-to-end connectivity, complicates peer-to-peer apps, and adds processing overhead.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800600" y="2880360"/>
            <a:ext cx="4114800" cy="1691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5458968" y="299008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Variable Header / Fragmentation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983480" y="342900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Routers must fragment packets, adding overhead. Options field makes the header variable-length, slowing routing.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IPv6?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Introduced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1998 (RFC 2460)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128-bit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Colon-Hex Notation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2001:0db8::1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Addresses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340 Undecillion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Header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40 bytes (fixed)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035040" y="9144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Address Breakdown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989320" y="1417320"/>
            <a:ext cx="685800" cy="54864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989320" y="141732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739128" y="1417320"/>
            <a:ext cx="685800" cy="548640"/>
          </a:xfrm>
          <a:prstGeom prst="rect">
            <a:avLst/>
          </a:prstGeom>
          <a:solidFill>
            <a:srgbClr val="047857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6739128" y="141732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0db8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488936" y="1417320"/>
            <a:ext cx="685800" cy="5486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488936" y="141732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238744" y="1417320"/>
            <a:ext cx="685800" cy="5486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8238744" y="141732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989320" y="2194560"/>
            <a:ext cx="685800" cy="54864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5989320" y="219456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739128" y="2194560"/>
            <a:ext cx="685800" cy="548640"/>
          </a:xfrm>
          <a:prstGeom prst="rect">
            <a:avLst/>
          </a:prstGeom>
          <a:solidFill>
            <a:srgbClr val="047857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739128" y="219456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7488936" y="2194560"/>
            <a:ext cx="685800" cy="5486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7488936" y="219456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238744" y="2194560"/>
            <a:ext cx="685800" cy="5486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8238744" y="219456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035040" y="30175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groups × 16 bits = 128 bits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943600" y="33832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Key Improvements Over IPv4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943600" y="37947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Mandatory IPsec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943600" y="40690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Auto-configuration (SLAAC)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943600" y="43434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NAT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943600" y="461772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Multicast (no broadcast)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943600" y="48920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Simplified routing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IPv6 Header Structure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914400"/>
            <a:ext cx="1005840" cy="640080"/>
          </a:xfrm>
          <a:prstGeom prst="rect">
            <a:avLst/>
          </a:prstGeom>
          <a:solidFill>
            <a:srgbClr val="1D4E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57200" y="9144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(4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463040" y="914400"/>
            <a:ext cx="1828800" cy="640080"/>
          </a:xfrm>
          <a:prstGeom prst="rect">
            <a:avLst/>
          </a:prstGeom>
          <a:solidFill>
            <a:srgbClr val="1E40A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1463040" y="9144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Traffic Class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291840" y="914400"/>
            <a:ext cx="5394960" cy="640080"/>
          </a:xfrm>
          <a:prstGeom prst="rect">
            <a:avLst/>
          </a:prstGeom>
          <a:solidFill>
            <a:srgbClr val="1E3A8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291840" y="91440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Label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(20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1600200"/>
            <a:ext cx="4114800" cy="640080"/>
          </a:xfrm>
          <a:prstGeom prst="rect">
            <a:avLst/>
          </a:prstGeom>
          <a:solidFill>
            <a:srgbClr val="065F4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57200" y="16002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Payload Length (16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72000" y="1600200"/>
            <a:ext cx="2103120" cy="640080"/>
          </a:xfrm>
          <a:prstGeom prst="rect">
            <a:avLst/>
          </a:prstGeom>
          <a:solidFill>
            <a:srgbClr val="04785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4572000" y="16002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Header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675120" y="1600200"/>
            <a:ext cx="2011680" cy="640080"/>
          </a:xfrm>
          <a:prstGeom prst="rect">
            <a:avLst/>
          </a:prstGeom>
          <a:solidFill>
            <a:srgbClr val="05966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6675120" y="16002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Hop Limit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7C2D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Address (128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solidFill>
            <a:srgbClr val="92400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Destination Address (128 bits)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IPv6 vs IPv4 Header — Key Simplifications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Fixed 40-byte header (no IHL field needed)       No Header Checksum (handled by upper layers)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Fragmentation at routers (done at source)     Extension Headers replace IPv4 Options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6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914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190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40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27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669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0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20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3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IPv4 vs IPv6 — Side by Side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457200" y="868680"/>
            <a:ext cx="2743200" cy="393192"/>
          </a:xfrm>
          <a:prstGeom prst="rect">
            <a:avLst/>
          </a:prstGeom>
          <a:solidFill>
            <a:srgbClr val="0D2B5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457200" y="86868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3200400" y="868680"/>
            <a:ext cx="2743200" cy="393192"/>
          </a:xfrm>
          <a:prstGeom prst="rect">
            <a:avLst/>
          </a:prstGeom>
          <a:solidFill>
            <a:srgbClr val="0E4D9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3200400" y="86868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5943600" y="868680"/>
            <a:ext cx="2743200" cy="393192"/>
          </a:xfrm>
          <a:prstGeom prst="rect">
            <a:avLst/>
          </a:prstGeom>
          <a:solidFill>
            <a:srgbClr val="065F46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5943600" y="86868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457200" y="1261872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457200" y="126187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Address Length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3200400" y="1261872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3200400" y="126187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32 bits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943600" y="1261872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5943600" y="126187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128 bits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457200" y="1655064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457200" y="165506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Address Format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3200400" y="1655064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3200400" y="165506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Dotted Decimal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5943600" y="1655064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5943600" y="165506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Colon Hexadecimal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457200" y="2048256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>
            <a:off x="457200" y="204825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Addresses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3200400" y="2048256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3200400" y="204825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~4.3 Billion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5943600" y="2048256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5943600" y="204825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340 Undecillion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457200" y="2441448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457200" y="244144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Header 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3200400" y="2441448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3200400" y="244144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20–60 bytes (variable)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5943600" y="2441448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5943600" y="244144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40 bytes (fixed)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457200" y="2834640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457200" y="283464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Header Checksum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3200400" y="2834640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3200400" y="283464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5943600" y="2834640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5943600" y="283464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No (removed)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457200" y="3227832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457200" y="322783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IPsec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3200400" y="3227832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>
            <a:off x="3200400" y="322783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5943600" y="3227832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5943600" y="3227832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Mandatory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457200" y="3621024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457200" y="362102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Fragmentation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3200400" y="3621024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0"/>
          <p:cNvSpPr/>
          <p:nvPr/>
        </p:nvSpPr>
        <p:spPr>
          <a:xfrm>
            <a:off x="3200400" y="362102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Routers &amp;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5943600" y="3621024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0"/>
          <p:cNvSpPr/>
          <p:nvPr/>
        </p:nvSpPr>
        <p:spPr>
          <a:xfrm>
            <a:off x="5943600" y="3621024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Source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457200" y="4014216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457200" y="401421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3200400" y="4014216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3200400" y="401421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Supported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5943600" y="4014216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5943600" y="4014216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Replaced by Multicast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457200" y="4407408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457200" y="440740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NAT Required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3200400" y="4407408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3200400" y="440740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Yes (address shortage)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5943600" y="4407408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"/>
          <p:cNvSpPr/>
          <p:nvPr/>
        </p:nvSpPr>
        <p:spPr>
          <a:xfrm>
            <a:off x="5943600" y="4407408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No (vast address space)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457200" y="4800600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457200" y="480060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Auto-configuration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3200400" y="4800600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0"/>
          <p:cNvSpPr/>
          <p:nvPr/>
        </p:nvSpPr>
        <p:spPr>
          <a:xfrm>
            <a:off x="3200400" y="480060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DHCP (manual)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5943600" y="4800600"/>
            <a:ext cx="2743200" cy="3931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5943600" y="4800600"/>
            <a:ext cx="274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SLAAC (automatic)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IPv6 Adoption — Real World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14400"/>
            <a:ext cx="53035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1"/>
          <p:cNvSpPr/>
          <p:nvPr/>
        </p:nvSpPr>
        <p:spPr>
          <a:xfrm>
            <a:off x="5943600" y="960120"/>
            <a:ext cx="2834640" cy="86868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5943600" y="960120"/>
            <a:ext cx="1188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4D9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E4D92"/>
                </a:solidFill>
                <a:latin typeface="Calibri"/>
                <a:ea typeface="Calibri"/>
                <a:cs typeface="Calibri"/>
                <a:sym typeface="Calibri"/>
              </a:rPr>
              <a:t>45%+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7178040" y="96012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Global Average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5943600" y="1965960"/>
            <a:ext cx="2834640" cy="86868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5943600" y="1965960"/>
            <a:ext cx="1188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71%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7178040" y="196596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India (highest)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5943600" y="2971800"/>
            <a:ext cx="2834640" cy="86868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5943600" y="2971800"/>
            <a:ext cx="1188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7178040" y="297180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Nepal (growing)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5943600" y="3977640"/>
            <a:ext cx="2834640" cy="86868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5943600" y="3977640"/>
            <a:ext cx="1188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2011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7178040" y="3977640"/>
            <a:ext cx="1600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IANA IPv4 Exhaustion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Source: Google IPv6 Statistics, APNIC Labs,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D2B55">
              <a:alpha val="50196"/>
            </a:srgbClr>
          </a:solidFill>
          <a:ln cap="flat" cmpd="sng" w="12700">
            <a:solidFill>
              <a:srgbClr val="0D2B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891B2">
              <a:alpha val="25098"/>
            </a:srgbClr>
          </a:solidFill>
          <a:ln cap="flat" cmpd="sng" w="12700">
            <a:solidFill>
              <a:srgbClr val="0891B2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7" name="Google Shape;3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155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2"/>
          <p:cNvSpPr/>
          <p:nvPr/>
        </p:nvSpPr>
        <p:spPr>
          <a:xfrm>
            <a:off x="1097280" y="1005840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IPv4's 32-bit space is exhausted — ~4.3B addresses were not enough for the modern internet.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9" name="Google Shape;3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88366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/>
          <p:nvPr/>
        </p:nvSpPr>
        <p:spPr>
          <a:xfrm>
            <a:off x="1097280" y="1773936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IPv6's 128-bit addressing solves this permanently with 340 undecillion unique addresses.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1" name="Google Shape;40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2651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2"/>
          <p:cNvSpPr/>
          <p:nvPr/>
        </p:nvSpPr>
        <p:spPr>
          <a:xfrm>
            <a:off x="1097280" y="2542032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IPv6 improves security (mandatory IPsec), simplifies headers, and eliminates NAT.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3" name="Google Shape;40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3419856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2"/>
          <p:cNvSpPr/>
          <p:nvPr/>
        </p:nvSpPr>
        <p:spPr>
          <a:xfrm>
            <a:off x="1097280" y="3310128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Transition is gradual — Dual Stack, Tunneling, and NAT-PT bridge the two worlds.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1879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2"/>
          <p:cNvSpPr/>
          <p:nvPr/>
        </p:nvSpPr>
        <p:spPr>
          <a:xfrm>
            <a:off x="1097280" y="4078224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Global adoption is rising (~45%), but many regions like Nepal are still in early stages.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solidFill>
            <a:srgbClr val="0891B2">
              <a:alpha val="40000"/>
            </a:srgbClr>
          </a:solidFill>
          <a:ln cap="flat" cmpd="sng" w="12700">
            <a:solidFill>
              <a:srgbClr val="0891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"IPv6 is not the future — it's the present."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55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548640" y="73152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 &amp;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548640" y="14630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548640" y="2468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548640" y="2880360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RFC 791 — Internet Protocol (IPv4), IETF, 1981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548640" y="3218688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RFC 2460 — Internet Protocol Version 6, IETF, 1998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548640" y="3557016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RFC 4291 — IPv6 Addressing Architecture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548640" y="3895344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IPv6 Statistics — https://www.google.com/intl/en/ipv6/statistics.html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548640" y="4233672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CN Lecture Notes — Yogesh Deo, NCIT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