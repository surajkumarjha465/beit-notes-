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IPv6 Adoption by Country (%, 2024)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IPv6 Adoption %</c:v>
                </c:pt>
              </c:strCache>
            </c:strRef>
          </c:tx>
          <c:spPr>
            <a:solidFill>
              <a:srgbClr val="0E4D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4D9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4D9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4D9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4D9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4D9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4D9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India</c:v>
                  </c:pt>
                  <c:pt idx="1">
                    <c:v>USA</c:v>
                  </c:pt>
                  <c:pt idx="2">
                    <c:v>Germany</c:v>
                  </c:pt>
                  <c:pt idx="3">
                    <c:v>France</c:v>
                  </c:pt>
                  <c:pt idx="4">
                    <c:v>Brazil</c:v>
                  </c:pt>
                  <c:pt idx="5">
                    <c:v>Japan</c:v>
                  </c:pt>
                  <c:pt idx="6">
                    <c:v>Nepal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71</c:v>
                </c:pt>
                <c:pt idx="1">
                  <c:v>53</c:v>
                </c:pt>
                <c:pt idx="2">
                  <c:v>64</c:v>
                </c:pt>
                <c:pt idx="3">
                  <c:v>60</c:v>
                </c:pt>
                <c:pt idx="4">
                  <c:v>35</c:v>
                </c:pt>
                <c:pt idx="5">
                  <c:v>47</c:v>
                </c:pt>
                <c:pt idx="6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E4D92">
              <a:alpha val="30000"/>
            </a:srgbClr>
          </a:solidFill>
          <a:ln w="12700">
            <a:solidFill>
              <a:srgbClr val="0E4D9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&amp; IPv6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Internet Protocols: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Addressing, Architecture &amp; the Road Ahead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3200400" cy="640080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23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Suraj Kumar Jha  |  NCIT, Pokhara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TOPIC MATTERS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32004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822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IPv4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108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exhausted by 2011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743200" cy="32004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05840"/>
            <a:ext cx="2743200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887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Undecillion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2331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Address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3108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unlimited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743200" cy="32004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005840"/>
            <a:ext cx="2743200" cy="82296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887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4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2331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IPv6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3108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stats, 2024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is running out of IPv4 addresses — IPv6 is not optional, it's inevitable.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IPv4?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194560" cy="4754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960120"/>
            <a:ext cx="338328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9601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1981 (RFC 791)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63624"/>
            <a:ext cx="2194560" cy="4754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563624"/>
            <a:ext cx="338328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63624"/>
            <a:ext cx="219456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Size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15636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2194560" cy="4754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167128"/>
            <a:ext cx="338328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67128"/>
            <a:ext cx="219456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1671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Dotted Decimal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70632"/>
            <a:ext cx="2194560" cy="4754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2770632"/>
            <a:ext cx="338328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706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27706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374136"/>
            <a:ext cx="2194560" cy="4754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3374136"/>
            <a:ext cx="338328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74136"/>
            <a:ext cx="219456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3374136"/>
            <a:ext cx="33832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~4.3 Billion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977640"/>
            <a:ext cx="2194560" cy="4754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3977640"/>
            <a:ext cx="338328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9776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Size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39776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20–60 bytes (variable)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914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Breakdown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1371600"/>
            <a:ext cx="621792" cy="62179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1371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72200" y="202996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1371600"/>
            <a:ext cx="621792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1371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0" y="202996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43800" y="1371600"/>
            <a:ext cx="621792" cy="621792"/>
          </a:xfrm>
          <a:prstGeom prst="rect">
            <a:avLst/>
          </a:prstGeom>
          <a:solidFill>
            <a:srgbClr val="0D6E4F"/>
          </a:solidFill>
          <a:ln w="12700">
            <a:solidFill>
              <a:srgbClr val="0D6E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43800" y="1371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43800" y="202996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29600" y="1371600"/>
            <a:ext cx="621792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1371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29600" y="202996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7220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32 bits total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03504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Classes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035040" y="3200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A: 0.0.0.0 – 127.x.x.x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035040" y="3611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B: 128.0.0.0 – 191.x.x.x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035040" y="40233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C: 192.0.0.0 – 223.x.x.x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035040" y="4434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D/E: Multicast / Research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Header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621792"/>
          </a:xfrm>
          <a:prstGeom prst="rect">
            <a:avLst/>
          </a:prstGeom>
          <a:solidFill>
            <a:srgbClr val="1D4E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bits)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54480" y="914400"/>
            <a:ext cx="1097280" cy="621792"/>
          </a:xfrm>
          <a:prstGeom prst="rect">
            <a:avLst/>
          </a:prstGeom>
          <a:solidFill>
            <a:srgbClr val="1E40A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9144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bits)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914400"/>
            <a:ext cx="1828800" cy="621792"/>
          </a:xfrm>
          <a:prstGeom prst="rect">
            <a:avLst/>
          </a:prstGeom>
          <a:solidFill>
            <a:srgbClr val="1E3A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9144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bits)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914400"/>
            <a:ext cx="4206240" cy="621792"/>
          </a:xfrm>
          <a:prstGeom prst="rect">
            <a:avLst/>
          </a:prstGeom>
          <a:solidFill>
            <a:srgbClr val="1D4E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91440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Length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 bits)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572768"/>
            <a:ext cx="4114800" cy="621792"/>
          </a:xfrm>
          <a:prstGeom prst="rect">
            <a:avLst/>
          </a:prstGeom>
          <a:solidFill>
            <a:srgbClr val="065F4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57276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(16 bits)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572768"/>
            <a:ext cx="1097280" cy="621792"/>
          </a:xfrm>
          <a:prstGeom prst="rect">
            <a:avLst/>
          </a:prstGeom>
          <a:solidFill>
            <a:srgbClr val="04785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57276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1572768"/>
            <a:ext cx="3017520" cy="621792"/>
          </a:xfrm>
          <a:prstGeom prst="rect">
            <a:avLst/>
          </a:prstGeom>
          <a:solidFill>
            <a:srgbClr val="065F4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57276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Offset (13 bits)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231136"/>
            <a:ext cx="1371600" cy="621792"/>
          </a:xfrm>
          <a:prstGeom prst="rect">
            <a:avLst/>
          </a:prstGeom>
          <a:solidFill>
            <a:srgbClr val="7C2D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23113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bits)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0" y="2231136"/>
            <a:ext cx="1828800" cy="621792"/>
          </a:xfrm>
          <a:prstGeom prst="rect">
            <a:avLst/>
          </a:prstGeom>
          <a:solidFill>
            <a:srgbClr val="9A34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23113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bits)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2231136"/>
            <a:ext cx="5029200" cy="621792"/>
          </a:xfrm>
          <a:prstGeom prst="rect">
            <a:avLst/>
          </a:prstGeom>
          <a:solidFill>
            <a:srgbClr val="7C2D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231136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Checksum (16 bits)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889504"/>
            <a:ext cx="8229600" cy="621792"/>
          </a:xfrm>
          <a:prstGeom prst="rect">
            <a:avLst/>
          </a:prstGeom>
          <a:solidFill>
            <a:srgbClr val="4C1D9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8950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 Address (32 bits)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547872"/>
            <a:ext cx="8229600" cy="621792"/>
          </a:xfrm>
          <a:prstGeom prst="rect">
            <a:avLst/>
          </a:prstGeom>
          <a:solidFill>
            <a:srgbClr val="5B21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478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IP Address (32 bits)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526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Prevents infinite loops  |  </a:t>
            </a:r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TCP=6, UDP=17  |  </a:t>
            </a:r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Flags/Offset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Control fragmentation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IPv4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247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069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Exhaustion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IANA ran out of IPv4 blocks in February 2011. Regional registries have followed. NAT is a workaround — not a solution.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00600" y="960120"/>
            <a:ext cx="41148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247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58968" y="1069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Security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983480" y="15087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is optional in IPv4. Packets can be spoofed, intercepted, or modified without end-to-end encryption by default.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2880360"/>
            <a:ext cx="41148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4495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4128" y="2990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Complexity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48640" y="34290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Address Translation breaks end-to-end connectivity, complicates peer-to-peer apps, and adds processing overhead.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00600" y="2880360"/>
            <a:ext cx="41148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4495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58968" y="2990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Header / Fragmentation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983480" y="34290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must fragment packets, adding overhead. Options field makes the header variable-length, slowing routing.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IPv6?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194560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960120"/>
            <a:ext cx="3383280" cy="475488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9601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 (RFC 2460)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63624"/>
            <a:ext cx="2194560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563624"/>
            <a:ext cx="3383280" cy="475488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63624"/>
            <a:ext cx="219456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Size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15636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128-bit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2194560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167128"/>
            <a:ext cx="3383280" cy="475488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67128"/>
            <a:ext cx="219456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1671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Colon-Hex Notation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70632"/>
            <a:ext cx="2194560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2770632"/>
            <a:ext cx="3383280" cy="475488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706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27706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2001:0db8::1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374136"/>
            <a:ext cx="2194560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3374136"/>
            <a:ext cx="3383280" cy="475488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74136"/>
            <a:ext cx="219456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3374136"/>
            <a:ext cx="33832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Undecillion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977640"/>
            <a:ext cx="2194560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3977640"/>
            <a:ext cx="3383280" cy="475488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9776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Size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39776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bytes (fixed)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35040" y="914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Breakdown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89320" y="1417320"/>
            <a:ext cx="685800" cy="548640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1417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39128" y="1417320"/>
            <a:ext cx="685800" cy="548640"/>
          </a:xfrm>
          <a:prstGeom prst="rect">
            <a:avLst/>
          </a:prstGeom>
          <a:solidFill>
            <a:srgbClr val="0478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39128" y="1417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0db8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88936" y="1417320"/>
            <a:ext cx="6858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88936" y="1417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38744" y="1417320"/>
            <a:ext cx="6858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38744" y="1417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89320" y="2194560"/>
            <a:ext cx="685800" cy="548640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21945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39128" y="2194560"/>
            <a:ext cx="685800" cy="548640"/>
          </a:xfrm>
          <a:prstGeom prst="rect">
            <a:avLst/>
          </a:prstGeom>
          <a:solidFill>
            <a:srgbClr val="0478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39128" y="21945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88936" y="2194560"/>
            <a:ext cx="6858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88936" y="21945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38744" y="2194560"/>
            <a:ext cx="6858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38744" y="21945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3504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groups × 16 bits = 128 bits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Improvements Over IPv4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943600" y="3794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IPsec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943600" y="4069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Auto-configuration (SLAAC)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943600" y="43434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 needed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943600" y="4617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Multicast (no broadcast)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43600" y="4892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routing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Header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05840" cy="640080"/>
          </a:xfrm>
          <a:prstGeom prst="rect">
            <a:avLst/>
          </a:prstGeom>
          <a:solidFill>
            <a:srgbClr val="1D4E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bits)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463040" y="914400"/>
            <a:ext cx="1828800" cy="640080"/>
          </a:xfrm>
          <a:prstGeom prst="rect">
            <a:avLst/>
          </a:prstGeom>
          <a:solidFill>
            <a:srgbClr val="1E40A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914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Class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bits)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5394960" cy="640080"/>
          </a:xfrm>
          <a:prstGeom prst="rect">
            <a:avLst/>
          </a:prstGeom>
          <a:solidFill>
            <a:srgbClr val="1E3A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9144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Label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 bits)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4114800" cy="640080"/>
          </a:xfrm>
          <a:prstGeom prst="rect">
            <a:avLst/>
          </a:prstGeom>
          <a:solidFill>
            <a:srgbClr val="065F4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00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Length (16 bits)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600200"/>
            <a:ext cx="2103120" cy="640080"/>
          </a:xfrm>
          <a:prstGeom prst="rect">
            <a:avLst/>
          </a:prstGeom>
          <a:solidFill>
            <a:srgbClr val="04785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600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Header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bits)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0" y="1600200"/>
            <a:ext cx="2011680" cy="640080"/>
          </a:xfrm>
          <a:prstGeom prst="rect">
            <a:avLst/>
          </a:prstGeom>
          <a:solidFill>
            <a:srgbClr val="05966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600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Limit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bits)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solidFill>
            <a:srgbClr val="7C2D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Address (128 bits)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solidFill>
            <a:srgbClr val="92400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Address (128 bits)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vs IPv4 Header — Key Simplifications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40-byte header (no IHL field needed)       No Header Checksum (handled by upper layers)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Fragmentation at routers (done at source)     Extension Headers replace IPv4 Options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vs IPv6 — Side by Side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743200" cy="393192"/>
          </a:xfrm>
          <a:prstGeom prst="rect">
            <a:avLst/>
          </a:prstGeom>
          <a:solidFill>
            <a:srgbClr val="0D2B5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868680"/>
            <a:ext cx="2743200" cy="393192"/>
          </a:xfrm>
          <a:prstGeom prst="rect">
            <a:avLst/>
          </a:prstGeom>
          <a:solidFill>
            <a:srgbClr val="0E4D9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86868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868680"/>
            <a:ext cx="2743200" cy="393192"/>
          </a:xfrm>
          <a:prstGeom prst="rect">
            <a:avLst/>
          </a:prstGeom>
          <a:solidFill>
            <a:srgbClr val="065F4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86868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261872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6187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Length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261872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26187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bits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261872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26187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bits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655064"/>
            <a:ext cx="274320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65506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Format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655064"/>
            <a:ext cx="274320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65506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Dotted Decimal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655064"/>
            <a:ext cx="274320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65506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 Hexadecimal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048256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048256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048256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2048256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~4.3 Billion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048256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048256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Undecillion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441448"/>
            <a:ext cx="274320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44144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Size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441448"/>
            <a:ext cx="274320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244144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20–60 bytes (variable)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0" y="2441448"/>
            <a:ext cx="274320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44144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bytes (fixed)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2834640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83464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Checksum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2834640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283464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0" y="2834640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283464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(removed)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227832"/>
            <a:ext cx="274320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22783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Support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0" y="3227832"/>
            <a:ext cx="274320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0" y="322783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43600" y="3227832"/>
            <a:ext cx="274320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322783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3621024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62102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0" y="3621024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0" y="362102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&amp; Source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943600" y="3621024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0" y="362102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only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4014216"/>
            <a:ext cx="274320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014216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0" y="4014216"/>
            <a:ext cx="274320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0" y="4014216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943600" y="4014216"/>
            <a:ext cx="274320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0" y="4014216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by Multicast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4407408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40740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Required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200400" y="4407408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0" y="440740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(address shortage)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943600" y="4407408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0" y="440740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(vast address space)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57200" y="4800600"/>
            <a:ext cx="274320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80060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Auto-configuration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200400" y="4800600"/>
            <a:ext cx="274320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0" y="480060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(manual)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943600" y="4800600"/>
            <a:ext cx="274320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43600" y="480060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SLAAC (automatic)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Mechanisms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3931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743200" cy="64008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0515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Stack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0574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run both IPv4 and IPv6 simultaneously. Each packet is handled by the appropriate protocol. Most common approach used by ISPs and operating systems today.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compatible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tunneling overhead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4114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rollout possible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46120" y="914400"/>
            <a:ext cx="2743200" cy="3931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91440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05156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4612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Tunneling (6to4)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83280" y="20574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packets are encapsulated inside IPv4 packets to cross IPv4 infrastructure. Enables IPv6 communication without upgrading the core network.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38328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383280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core network change needed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38328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early IPv6 adoption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383280" y="4114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to end users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126480" y="914400"/>
            <a:ext cx="2743200" cy="3931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26480" y="914400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05156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2648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NAT-PT / Translation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263640" y="20574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Address Translation — Protocol Translation converts between IPv4 and IPv6 at the gateway level. Used when dual-stack or tunneling is not feasible.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26364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263640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legacy IPv4 apps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26364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modification needed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263640" y="4114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at network edges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Adoption — Real World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60120"/>
            <a:ext cx="2834640" cy="868680"/>
          </a:xfrm>
          <a:prstGeom prst="rect">
            <a:avLst/>
          </a:prstGeom>
          <a:solidFill>
            <a:srgbClr val="E8F4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9601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4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45%+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178040" y="960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965960"/>
            <a:ext cx="2834640" cy="868680"/>
          </a:xfrm>
          <a:prstGeom prst="rect">
            <a:avLst/>
          </a:prstGeom>
          <a:solidFill>
            <a:srgbClr val="E8F4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19659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178040" y="19659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(highest)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2971800"/>
            <a:ext cx="2834640" cy="868680"/>
          </a:xfrm>
          <a:prstGeom prst="rect">
            <a:avLst/>
          </a:prstGeom>
          <a:solidFill>
            <a:srgbClr val="E8F4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9718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178040" y="29718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(growing)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3977640"/>
            <a:ext cx="2834640" cy="868680"/>
          </a:xfrm>
          <a:prstGeom prst="rect">
            <a:avLst/>
          </a:prstGeom>
          <a:solidFill>
            <a:srgbClr val="E8F4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39776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178040" y="39776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IANA IPv4 Exhaustion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Google IPv6 Statistics, APNIC Labs, 2024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Subnetting &amp; CIDR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Notation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Classless Inter-Domain Routing (CIDR) replaces rigid class-based addressing. The prefix /n specifies how many bits are the network portion.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48840"/>
          <a:ext cx="4114800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CIDR Block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Capacity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 Mask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192.168.1.0/24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hosts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10.0.0.0/8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16M hosts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255.0.0.0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172.16.0.0/12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hosts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255.240.0.0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192.168.1.0/26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hosts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255.255.255.192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Calculation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46320" y="1325880"/>
            <a:ext cx="18288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675120" y="1325880"/>
            <a:ext cx="210312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3258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75120" y="1325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192.168.1.0 /26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1837944"/>
            <a:ext cx="18288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75120" y="1837944"/>
            <a:ext cx="210312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8379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bits: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75120" y="1837944"/>
            <a:ext cx="210312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2350008"/>
            <a:ext cx="18288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75120" y="2350008"/>
            <a:ext cx="210312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2350008"/>
            <a:ext cx="18288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bits: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75120" y="23500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32 − 26 = 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2862072"/>
            <a:ext cx="18288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75120" y="2862072"/>
            <a:ext cx="210312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28620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Hosts/subnet: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2862072"/>
            <a:ext cx="210312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2⁶ − 2 = 62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46320" y="3374136"/>
            <a:ext cx="18288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75120" y="3374136"/>
            <a:ext cx="210312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0" y="3374136"/>
            <a:ext cx="18288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Subnets: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675120" y="33741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2²⁶⁻²⁴ = 4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846320" y="3886200"/>
            <a:ext cx="18288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75120" y="3886200"/>
            <a:ext cx="210312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0" y="38862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size: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675120" y="38862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256 − 192 = 64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46320" y="4480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Usable Hosts = 2ʰ − 2  (subtract network &amp; broadcast)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D2B55">
              <a:alpha val="50000"/>
            </a:srgbClr>
          </a:solidFill>
          <a:ln w="12700">
            <a:solidFill>
              <a:srgbClr val="0D2B55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05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IPv4's 32-bit space is exhausted — ~4.3B addresses were not enough for the modern internet.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3664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773936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IPv6's 128-bit addressing solves this permanently with 340 undecillion unique addresses.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5176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2542032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improves security (mandatory IPsec), simplifies headers, and eliminates NAT.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19856"/>
            <a:ext cx="411480" cy="411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7280" y="331012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is gradual — Dual Stack, Tunneling, and NAT-PT bridge the two worlds.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187952"/>
            <a:ext cx="411480" cy="4114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97280" y="4078224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adoption is rising (~45%), but many regions like Nepal are still in early stages.</a:t>
            </a:r>
            <a:endParaRPr lang="en-US" sz="1250" dirty="0"/>
          </a:p>
        </p:txBody>
      </p:sp>
      <p:sp>
        <p:nvSpPr>
          <p:cNvPr id="15" name="Shape 8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"IPv6 is not the future — it's the present."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&amp;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046720" cy="3017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791 — Internet Protocol (IPv4), IETF, 1981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218688"/>
            <a:ext cx="8046720" cy="3017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2460 — Internet Protocol Version 6, IETF, 1998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557016"/>
            <a:ext cx="8046720" cy="3017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4291 — IPv6 Addressing Architecture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895344"/>
            <a:ext cx="8046720" cy="3017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IPv6 Statistics — https://www.google.com/intl/en/ipv6/statistics.html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233672"/>
            <a:ext cx="8046720" cy="3017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Lecture Notes — Yogesh Deo, NCIT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IPv4 vs IPv6</dc:title>
  <dc:subject>PptxGenJS Presentation</dc:subject>
  <dc:creator>Suraj Kumar Jha</dc:creator>
  <cp:lastModifiedBy>Suraj Kumar Jha</cp:lastModifiedBy>
  <cp:revision>1</cp:revision>
  <dcterms:created xsi:type="dcterms:W3CDTF">2026-06-07T14:43:37Z</dcterms:created>
  <dcterms:modified xsi:type="dcterms:W3CDTF">2026-06-07T14:43:37Z</dcterms:modified>
</cp:coreProperties>
</file>